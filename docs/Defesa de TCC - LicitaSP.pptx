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2A89F7-FB15-4C77-9A68-3288D1CA959E}">
  <a:tblStyle styleId="{DA2A89F7-FB15-4C77-9A68-3288D1CA95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9BF773-E59E-4C4E-84AE-4A465A3320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7225E-8458-4720-842E-FFA944901D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C307-0D5D-4226-B5A8-BF81D585B5B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0D93C-C3A4-448F-92AE-684098780F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45035-79E9-4E82-9239-F2CA73E8E0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7122A-172B-442B-97D7-5E35A5AEC80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448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834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3173"/>
            <a:ext cx="110490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383952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LICITASP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3555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Sistema para Extração de Licitações do Diário Oficial do Estado de São Paulo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87369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Rafael Albano da Silva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36899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Orientador: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Prof. Me. Carlos Eduardo de França Roland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86429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Curso: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Tecnologia em Análise e Desenvolvimento de Sistemas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35959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Franca/SP - 2025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526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Contextualização do Problema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2955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 Desafio das PMEs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8098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Pequenas e Médias Empresas enfrentam grande dificuldade para acompanhar diariamente as publicações no Diário Oficial do Estado (DOE-SP).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39147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pesquisa manual é ineficiente e consome tempo precioso. Estima-se que atividades manuais de busca possam consumir cerca de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700 horas/ano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de trabalho.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0196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Consequência: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Perda sistemática de oportunidades de negócio e baixa competitividade em licitações públicas.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52650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05351" y="2105025"/>
            <a:ext cx="103812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Problema Central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52525" y="2619375"/>
            <a:ext cx="988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"Como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monitorar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eficientemente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licitações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publicadas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no DOE-SP 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notificar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micro 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pequenas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empresas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sobre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essas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oportunidades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?"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905351" y="3819525"/>
            <a:ext cx="1038129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SOLUÇÃO PROPOSTA: LICITASP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52525" y="4638675"/>
            <a:ext cx="9886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Um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sistema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Web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automação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que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realiza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raspagem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de dados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filtragem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por interesse e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notificação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proativa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464343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Objetivos do Projeto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464343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1340643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Objetivo Geral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78636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01062" y="2914650"/>
            <a:ext cx="952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91562" y="3867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91562" y="46291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52500" y="1816893"/>
            <a:ext cx="4905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Desenvolver e dimensionar um sistema web para automatizar a busca de licitações.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262610"/>
            <a:ext cx="4905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Automatizar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 extração diária de dados do DOE-SP.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4232076"/>
            <a:ext cx="4905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Filtrar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publicações baseadas em palavras-chave personalizadas.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5201542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Notificar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os usuários via e-mail ou painel.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5805338"/>
            <a:ext cx="4905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Democratizar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o acesso e aumentar a competitividade das PMEs.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8168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2626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3207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2015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80533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9800"/>
            <a:ext cx="2547937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209800"/>
            <a:ext cx="2547937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209800"/>
            <a:ext cx="2547937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209800"/>
            <a:ext cx="2547937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Metodologia Empregada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140380" y="3238500"/>
            <a:ext cx="141017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Entrevista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71525" y="3895725"/>
            <a:ext cx="214788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Levantamento de dores reais com clientes potenciais para validar a necessidade de mercado.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699033" y="3238500"/>
            <a:ext cx="19602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Análise SWOT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605212" y="3895725"/>
            <a:ext cx="21478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Mapeamento de Forças, Fraquezas, Oportunidades e Ameaças do projeto.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082790" y="3238500"/>
            <a:ext cx="8601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5W2H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438900" y="3895725"/>
            <a:ext cx="214788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Planejamento estratégico detalhado: O que, Por que, Onde, Quando, Quem, Como e Quanto.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611439" y="3238500"/>
            <a:ext cx="14701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Requisitos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272587" y="3895725"/>
            <a:ext cx="21478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Elicitação e definição rigorosa de Requisitos Funcionais (RF) e Não Funcionais (RNF).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59718" y="25336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41393" y="25336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17931" y="25336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7875"/>
            <a:ext cx="53816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047875"/>
            <a:ext cx="53816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Modelagem do Sistema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376612" y="5637456"/>
            <a:ext cx="538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BPMN: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Mapeamento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fluxo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processos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automação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AB3E47-21DE-41B7-A580-B66F7D7EF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76375"/>
            <a:ext cx="10639425" cy="416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1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7875"/>
            <a:ext cx="53816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Modelagem do Sistema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3405187" y="5827490"/>
            <a:ext cx="5381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Diagrama</a:t>
            </a:r>
            <a:r>
              <a:rPr lang="en-US" b="1" dirty="0"/>
              <a:t> de Casos de </a:t>
            </a:r>
            <a:r>
              <a:rPr lang="en-US" b="1" dirty="0" err="1"/>
              <a:t>Uso</a:t>
            </a:r>
            <a:endParaRPr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AE629A-5714-42AA-B466-012D59BAC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1520473"/>
            <a:ext cx="10915650" cy="41850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8300"/>
            <a:ext cx="528637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8300"/>
            <a:ext cx="528637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Requisitos do Sistema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904875" y="1924050"/>
            <a:ext cx="4900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Funcionais (RF)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67500" y="1924050"/>
            <a:ext cx="4900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Não Funcionais (RNF)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19526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04875" y="24003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RF001: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Cadastro de Palavras-Chave.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04875" y="27051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RF003: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Webscraping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Automático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do DOE-SP.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904875" y="30099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RF004: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Listagem e Filtragem de Publicações.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04875" y="33147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RF007: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Envio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Notificações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usuários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19526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6667500" y="24003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RNF001: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Tecnologias Python, Flask e Selenium.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0" y="27051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RNF002: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Banco de Dados PostgreSQL.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67500" y="30099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RNF004: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Interface Responsiva e Amigável.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67500" y="33147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RNF010: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Segurança e Criptografia de dados.</a:t>
            </a:r>
            <a:endParaRPr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4574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7622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30670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33718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24574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27622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30670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337185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0275"/>
            <a:ext cx="2547937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200275"/>
            <a:ext cx="2547937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200275"/>
            <a:ext cx="2547937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200275"/>
            <a:ext cx="2547937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Arquitetura e Tecnologias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17827" y="3228975"/>
            <a:ext cx="225528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Python + Selenium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71525" y="4210050"/>
            <a:ext cx="21478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Motor de raspagem de dados robusto para navegação e extração automatizada.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309110" y="3228975"/>
            <a:ext cx="7400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Flask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3605212" y="3886200"/>
            <a:ext cx="21478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Microframework leve e modular para o desenvolvimento do Back-end.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687740" y="3228975"/>
            <a:ext cx="165020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PostgreSQL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438900" y="3886200"/>
            <a:ext cx="21478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Banco de dados relacional seguro e escalável para persistência.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651444" y="3228975"/>
            <a:ext cx="139017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Bootstrap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272587" y="3886200"/>
            <a:ext cx="21478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Framework Front-end garantindo responsividade e usabilidade.</a:t>
            </a:r>
            <a:endParaRPr/>
          </a:p>
        </p:txBody>
      </p:sp>
      <p:pic>
        <p:nvPicPr>
          <p:cNvPr id="220" name="Google Shape;22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5443" y="25241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79131" y="25241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12818" y="25241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89356" y="2524125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6000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286000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do Protótipo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5334000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Acesso Seguro: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Tela de Login intuitiva.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238875" y="5334000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Dashboard: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Visão geral das oportunidades.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AF138-5683-4C76-A235-3FF384324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37" y="2019300"/>
            <a:ext cx="5772150" cy="3314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7DA173-8977-4476-B115-13A6AC5AB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136" y="2019300"/>
            <a:ext cx="5276851" cy="33147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Métricas do Projeto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45481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Estimativa baseada em métricas de Pontos de Função e valor hora de desenvolvedor júnior (R$ 18,00/h).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3071812"/>
            <a:ext cx="36830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355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571500" y="3929062"/>
            <a:ext cx="368304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Pontos de Função (FP'r)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254549" y="3071812"/>
            <a:ext cx="36830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5.3k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254549" y="3929062"/>
            <a:ext cx="368304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Linhas de Código (Est.)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937599" y="3071812"/>
            <a:ext cx="36830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R$ 3.8k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937599" y="3929062"/>
            <a:ext cx="368304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Custo Estimado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762000" y="7620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 (SaaS)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71500" y="762000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23"/>
          <p:cNvGraphicFramePr/>
          <p:nvPr/>
        </p:nvGraphicFramePr>
        <p:xfrm>
          <a:off x="571500" y="23193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{DA2A89F7-FB15-4C77-9A68-3288D1CA959E}</a:tableStyleId>
              </a:tblPr>
              <a:tblGrid>
                <a:gridCol w="326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Recursos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Plano Básico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Plano Profissional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Preço Mensal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R$ 39,90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R$ 79,90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Palavras-Chave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Até 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Ilimitadas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Notificações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E-mail diário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Múltiplos e-mails + PDF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Relatórios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Simples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Detalhados e Exportáveis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9" name="Google Shape;259;p23"/>
          <p:cNvSpPr/>
          <p:nvPr/>
        </p:nvSpPr>
        <p:spPr>
          <a:xfrm>
            <a:off x="571500" y="3000375"/>
            <a:ext cx="3269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841253" y="3000375"/>
            <a:ext cx="3000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841480" y="3000375"/>
            <a:ext cx="4779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3695700"/>
            <a:ext cx="3269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841253" y="3695700"/>
            <a:ext cx="3000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841480" y="3695700"/>
            <a:ext cx="4779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4391025"/>
            <a:ext cx="3269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841253" y="4391025"/>
            <a:ext cx="3000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841480" y="4391025"/>
            <a:ext cx="4779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71500" y="5086350"/>
            <a:ext cx="3269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841253" y="5086350"/>
            <a:ext cx="3000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841480" y="5086350"/>
            <a:ext cx="4779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5781675"/>
            <a:ext cx="3269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841253" y="5781675"/>
            <a:ext cx="3000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841480" y="5781675"/>
            <a:ext cx="4779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526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762000" y="517475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71500" y="517475"/>
            <a:ext cx="76200" cy="495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571500" y="13937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Impacto e Futuro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571500" y="190812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LicitaSP</a:t>
            </a: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demonstrou ser uma solução técnica viável e socialmente relevante. Ao automatizar processos manuais, ele reduz barreiras de entrada para PMEs em contratos públicos.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571500" y="33178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Trabalhos Futuros:</a:t>
            </a:r>
            <a:endParaRPr/>
          </a:p>
        </p:txBody>
      </p:sp>
      <p:pic>
        <p:nvPicPr>
          <p:cNvPr id="285" name="Google Shape;28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526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1333500" y="3813125"/>
            <a:ext cx="4524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Integração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com IA para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análise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semântica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editais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sp>
        <p:nvSpPr>
          <p:cNvPr id="287" name="Google Shape;287;p24"/>
          <p:cNvSpPr txBox="1"/>
          <p:nvPr/>
        </p:nvSpPr>
        <p:spPr>
          <a:xfrm>
            <a:off x="1333500" y="4782591"/>
            <a:ext cx="4524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Desenvolvimento de aplicativo móvel nativo.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333500" y="5752058"/>
            <a:ext cx="4524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Expansão para Diários Oficiais de outros estados.</a:t>
            </a:r>
            <a:endParaRPr/>
          </a:p>
        </p:txBody>
      </p:sp>
      <p:pic>
        <p:nvPicPr>
          <p:cNvPr id="289" name="Google Shape;28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8131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7825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575205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295275" y="2290762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Perguntas?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571500" y="3405187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Obrigado pela atenção.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571500" y="44338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Rafael Albano da Silva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571500" y="49291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FATEC Franca - 2025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590</Words>
  <Application>Microsoft Office PowerPoint</Application>
  <PresentationFormat>Widescreen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Montserrat</vt:lpstr>
      <vt:lpstr>Roboto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Albano Rafael</cp:lastModifiedBy>
  <cp:revision>2</cp:revision>
  <dcterms:modified xsi:type="dcterms:W3CDTF">2025-12-01T10:27:24Z</dcterms:modified>
</cp:coreProperties>
</file>